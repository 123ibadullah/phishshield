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1" r:id="rId10"/>
    <p:sldId id="268" r:id="rId11"/>
    <p:sldId id="262" r:id="rId12"/>
    <p:sldId id="263" r:id="rId13"/>
    <p:sldId id="264" r:id="rId14"/>
  </p:sldIdLst>
  <p:sldSz cx="9144000" cy="5143500" type="screen16x9"/>
  <p:notesSz cx="6858000" cy="9144000"/>
  <p:embeddedFontLst>
    <p:embeddedFont>
      <p:font typeface="Roboto Slab" pitchFamily="2" charset="0"/>
      <p:regular r:id="rId16"/>
      <p:bold r:id="rId17"/>
    </p:embeddedFont>
    <p:embeddedFont>
      <p:font typeface="Source Sans Pro" panose="020B0503030403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4660"/>
  </p:normalViewPr>
  <p:slideViewPr>
    <p:cSldViewPr snapToGrid="0">
      <p:cViewPr varScale="1">
        <p:scale>
          <a:sx n="95" d="100"/>
          <a:sy n="95" d="100"/>
        </p:scale>
        <p:origin x="951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b31072225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b31072225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b31072225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b31072225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b31072225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b31072225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b31072225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b31072225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C97640A-0359-A870-EE56-C282D6BF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31072225_0_618:notes">
            <a:extLst>
              <a:ext uri="{FF2B5EF4-FFF2-40B4-BE49-F238E27FC236}">
                <a16:creationId xmlns:a16="http://schemas.microsoft.com/office/drawing/2014/main" id="{F281A61E-4644-2A68-DA78-316D05F21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b31072225_0_618:notes">
            <a:extLst>
              <a:ext uri="{FF2B5EF4-FFF2-40B4-BE49-F238E27FC236}">
                <a16:creationId xmlns:a16="http://schemas.microsoft.com/office/drawing/2014/main" id="{580580B0-692D-32C5-6AE6-04F5518ED4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4424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31072225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b31072225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f02e721f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f02e721f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b31072225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b31072225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b31072225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b31072225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5720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3600" i="1"/>
            </a:lvl1pPr>
            <a:lvl2pPr marL="914400" lvl="1" indent="-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3600" i="1"/>
            </a:lvl2pPr>
            <a:lvl3pPr marL="1371600" lvl="2" indent="-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3600" i="1"/>
            </a:lvl3pPr>
            <a:lvl4pPr marL="1828800" lvl="3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4pPr>
            <a:lvl5pPr marL="2286000" lvl="4" indent="-4572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5pPr>
            <a:lvl6pPr marL="2743200" lvl="5" indent="-457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6pPr>
            <a:lvl7pPr marL="3200400" lvl="6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7pPr>
            <a:lvl8pPr marL="3657600" lvl="7" indent="-4572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8pPr>
            <a:lvl9pPr marL="4114800" lvl="8" indent="-457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9pPr>
          </a:lstStyle>
          <a:p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4704510" y="351930"/>
            <a:ext cx="347100" cy="47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/>
        </p:nvSpPr>
        <p:spPr>
          <a:xfrm>
            <a:off x="322275" y="81550"/>
            <a:ext cx="85227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531675" y="361950"/>
            <a:ext cx="7069200" cy="65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VNR DESIGN-A-THON 2026</a:t>
            </a:r>
            <a:endParaRPr sz="32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797050" y="1109686"/>
            <a:ext cx="61187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000" dirty="0" err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PhishShield</a:t>
            </a:r>
            <a:r>
              <a:rPr lang="en-US" sz="20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AI</a:t>
            </a:r>
          </a:p>
          <a:p>
            <a:pPr lvl="0" algn="ctr"/>
            <a:r>
              <a:rPr lang="en-US" sz="20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Detect. Explain. Protect.</a:t>
            </a:r>
          </a:p>
          <a:p>
            <a:pPr lvl="0" algn="ctr"/>
            <a:r>
              <a:rPr lang="en-US" sz="2000" dirty="0">
                <a:solidFill>
                  <a:schemeClr val="accent1"/>
                </a:solidFill>
              </a:rPr>
              <a:t>AI-Powered Phishing Detection with Explainability</a:t>
            </a:r>
            <a:endParaRPr lang="en-US"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lvl="0" algn="ctr"/>
            <a:r>
              <a:rPr lang="en-US" sz="2000" dirty="0">
                <a:solidFill>
                  <a:schemeClr val="accent1"/>
                </a:solidFill>
              </a:rPr>
              <a:t>Domain: Cyber Security</a:t>
            </a:r>
            <a:endParaRPr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850900" y="2581634"/>
            <a:ext cx="72263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000" dirty="0">
                <a:solidFill>
                  <a:schemeClr val="accent1"/>
                </a:solidFill>
              </a:rPr>
              <a:t>Team Name: </a:t>
            </a:r>
            <a:r>
              <a:rPr lang="en-US" sz="2000" dirty="0" err="1">
                <a:solidFill>
                  <a:schemeClr val="accent1"/>
                </a:solidFill>
              </a:rPr>
              <a:t>PhishShield</a:t>
            </a:r>
            <a:endParaRPr lang="en-US" sz="2000" dirty="0">
              <a:solidFill>
                <a:schemeClr val="accent1"/>
              </a:solidFill>
            </a:endParaRPr>
          </a:p>
          <a:p>
            <a:pPr lvl="0"/>
            <a:endParaRPr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4294967295"/>
          </p:nvPr>
        </p:nvSpPr>
        <p:spPr>
          <a:xfrm>
            <a:off x="850900" y="3206750"/>
            <a:ext cx="7636850" cy="1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Team Members:</a:t>
            </a: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Char char="◎"/>
            </a:pPr>
            <a:r>
              <a:rPr lang="en-US" sz="20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Mohd </a:t>
            </a:r>
            <a:r>
              <a:rPr lang="en-US" sz="2000" dirty="0" err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Ibadullah</a:t>
            </a:r>
            <a:endParaRPr lang="en-US"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Char char="◎"/>
            </a:pPr>
            <a:r>
              <a:rPr lang="en-US" sz="2000" dirty="0" err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Dakuri</a:t>
            </a:r>
            <a:r>
              <a:rPr lang="en-US" sz="20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Manideep</a:t>
            </a:r>
            <a:endParaRPr lang="en-US" sz="2000" b="1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College Name: Keshav Memorial Institute of Technology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endParaRPr lang="en-US"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t="20021" b="27082"/>
          <a:stretch/>
        </p:blipFill>
        <p:spPr>
          <a:xfrm>
            <a:off x="916050" y="273089"/>
            <a:ext cx="1090826" cy="102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595650" y="3353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Abstract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Introduction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Problem statement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Technical details</a:t>
            </a:r>
          </a:p>
          <a:p>
            <a:pPr lvl="0" indent="-3302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/>
              <a:t>Feature Engineering &amp; Model </a:t>
            </a:r>
          </a:p>
          <a:p>
            <a:pPr lvl="0" indent="-3302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/>
              <a:t>System Architecture 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System Design</a:t>
            </a:r>
          </a:p>
          <a:p>
            <a:pPr lvl="0" indent="-330200">
              <a:spcBef>
                <a:spcPts val="0"/>
              </a:spcBef>
              <a:buClr>
                <a:schemeClr val="dk1"/>
              </a:buClr>
              <a:buSzPts val="1600"/>
            </a:pPr>
            <a:r>
              <a:rPr lang="en-US" sz="2000" dirty="0"/>
              <a:t>Demo / Output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Conclusion</a:t>
            </a:r>
            <a:endParaRPr sz="2000"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 dirty="0"/>
              <a:t>References</a:t>
            </a:r>
            <a:endParaRPr sz="2000" dirty="0"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4270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</a:t>
            </a:r>
            <a:endParaRPr dirty="0"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786150" y="361950"/>
            <a:ext cx="7571700" cy="5355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 indent="0">
              <a:spcBef>
                <a:spcPts val="0"/>
              </a:spcBef>
              <a:buSzPts val="1600"/>
              <a:buNone/>
            </a:pPr>
            <a:r>
              <a:rPr lang="en-US" sz="1600" dirty="0" err="1"/>
              <a:t>PhishShield</a:t>
            </a:r>
            <a:r>
              <a:rPr lang="en-US" sz="1600" dirty="0"/>
              <a:t> AI is an AI-based cybersecurity system designed to detect phishing emails and malicious URLs in real time. The system analyzes email content, identifies suspicious patterns, and assigns a risk score with clear explanations.</a:t>
            </a:r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lvl="0" indent="0">
              <a:spcBef>
                <a:spcPts val="0"/>
              </a:spcBef>
              <a:buSzPts val="1600"/>
              <a:buNone/>
            </a:pPr>
            <a:r>
              <a:rPr lang="en-US" sz="1600" dirty="0"/>
              <a:t>It helps users understand why an email is dangerous instead of just detecting it. The system supports multilingual detection (English and extendable to regional languages), making it suitable for Indian users.</a:t>
            </a:r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lvl="0" indent="0">
              <a:spcBef>
                <a:spcPts val="0"/>
              </a:spcBef>
              <a:buSzPts val="1600"/>
              <a:buNone/>
            </a:pPr>
            <a:r>
              <a:rPr lang="en-US" sz="1600" dirty="0"/>
              <a:t>By providing real-time alerts and simple explanations, </a:t>
            </a:r>
            <a:r>
              <a:rPr lang="en-US" sz="1600" dirty="0" err="1"/>
              <a:t>PhishShield</a:t>
            </a:r>
            <a:r>
              <a:rPr lang="en-US" sz="1600" dirty="0"/>
              <a:t> AI helps reduce financial fraud and improve cybersecurity awareness.</a:t>
            </a:r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lvl="0" indent="0">
              <a:spcBef>
                <a:spcPts val="0"/>
              </a:spcBef>
              <a:buSzPts val="1600"/>
              <a:buNone/>
            </a:pPr>
            <a:r>
              <a:rPr lang="en-US" sz="1600" dirty="0"/>
              <a:t>The system combines multiple signals such as content patterns, URL risk, and behavioral indicators to improve detection accuracy.</a:t>
            </a:r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1600" dirty="0"/>
              <a:t>The system supports real-time or simulated scanning with a structured risk scoring mechanism.</a:t>
            </a:r>
          </a:p>
          <a:p>
            <a:pPr marL="12700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indent="0">
              <a:spcBef>
                <a:spcPts val="0"/>
              </a:spcBef>
              <a:buSzPts val="1600"/>
              <a:buNone/>
            </a:pPr>
            <a:r>
              <a:rPr lang="en-US" sz="1600" dirty="0"/>
              <a:t>Unlike traditional systems, </a:t>
            </a:r>
            <a:r>
              <a:rPr lang="en-US" sz="1600" dirty="0" err="1"/>
              <a:t>PhishShield</a:t>
            </a:r>
            <a:r>
              <a:rPr lang="en-US" sz="1600" dirty="0"/>
              <a:t> AI provides human-readable explanations for every prediction, increasing user trust and awareness.</a:t>
            </a:r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lang="en-US" sz="1600" dirty="0"/>
          </a:p>
          <a:p>
            <a:pPr marL="127000" lvl="0" indent="0">
              <a:spcBef>
                <a:spcPts val="0"/>
              </a:spcBef>
              <a:buSzPts val="1600"/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</a:t>
            </a:r>
            <a:endParaRPr dirty="0"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01650" y="609600"/>
            <a:ext cx="7856200" cy="42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0">
              <a:buNone/>
            </a:pPr>
            <a:r>
              <a:rPr lang="en-US" sz="1600" dirty="0"/>
              <a:t>Phishing attacks are one of the fastest-growing cybersecurity threats in India, especially with the rapid adoption of digital banking and UPI systems. Attackers use fake emails and lookalike domains to trick users into sharing sensitive information.</a:t>
            </a:r>
          </a:p>
          <a:p>
            <a:pPr lvl="0" indent="0">
              <a:buNone/>
            </a:pPr>
            <a:endParaRPr lang="en-US" sz="1600" dirty="0"/>
          </a:p>
          <a:p>
            <a:pPr lvl="0" indent="0">
              <a:buNone/>
            </a:pPr>
            <a:r>
              <a:rPr lang="en-US" sz="1600" dirty="0"/>
              <a:t>Most users are unable to identify these threats because phishing messages closely resemble legitimate communication. Existing solutions often detect threats but fail to explain them clearly.</a:t>
            </a:r>
          </a:p>
          <a:p>
            <a:pPr lvl="0" indent="0">
              <a:buNone/>
            </a:pPr>
            <a:endParaRPr lang="en-US" sz="1600" dirty="0"/>
          </a:p>
          <a:p>
            <a:pPr lvl="0" indent="0">
              <a:buNone/>
            </a:pPr>
            <a:r>
              <a:rPr lang="en-US" sz="1600" dirty="0" err="1"/>
              <a:t>PhishShield</a:t>
            </a:r>
            <a:r>
              <a:rPr lang="en-US" sz="1600" dirty="0"/>
              <a:t> AI is designed to solve this problem by combining real-time detection with simple, human-understandable explanations, helping users recognize and avoid phishing attacks effectively.</a:t>
            </a:r>
          </a:p>
          <a:p>
            <a:pPr lvl="0" indent="0">
              <a:buNone/>
            </a:pPr>
            <a:endParaRPr lang="en-US" sz="1600" dirty="0"/>
          </a:p>
          <a:p>
            <a:pPr lvl="0" indent="0">
              <a:buNone/>
            </a:pPr>
            <a:r>
              <a:rPr lang="en-US" sz="1600" dirty="0"/>
              <a:t>This makes phishing a major challenge for both individuals and enterprises in India.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6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786150" y="823965"/>
            <a:ext cx="7571700" cy="4011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buSzPts val="1600"/>
            </a:pPr>
            <a:r>
              <a:rPr lang="en-US" sz="1600" dirty="0"/>
              <a:t>Rising phishing attacks across India, especially targeting banking and UPI users</a:t>
            </a:r>
            <a:br>
              <a:rPr lang="en-US" sz="1600" dirty="0"/>
            </a:b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Users are losing money due to fake emails and lookalike domains</a:t>
            </a:r>
            <a:br>
              <a:rPr lang="en-US" sz="1600" dirty="0"/>
            </a:b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Most users cannot differentiate between real and phishing emails</a:t>
            </a:r>
            <a:br>
              <a:rPr lang="en-US" sz="1600" dirty="0"/>
            </a:b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Existing solutions detect threats but do not explain them clearly</a:t>
            </a:r>
            <a:br>
              <a:rPr lang="en-US" sz="1600" dirty="0"/>
            </a:br>
            <a:endParaRPr lang="en-US" sz="1600" dirty="0"/>
          </a:p>
          <a:p>
            <a:pPr indent="-330200">
              <a:buSzPts val="1600"/>
            </a:pPr>
            <a:r>
              <a:rPr lang="en-US" sz="1600" dirty="0"/>
              <a:t>Need for a real-time, simple, and user-friendly detection system</a:t>
            </a:r>
          </a:p>
          <a:p>
            <a:pPr indent="-330200">
              <a:buSzPts val="1600"/>
            </a:pPr>
            <a:endParaRPr lang="en-US" sz="1600" dirty="0"/>
          </a:p>
          <a:p>
            <a:pPr indent="-330200">
              <a:buSzPts val="1600"/>
            </a:pPr>
            <a:r>
              <a:rPr lang="en-US" sz="1600" dirty="0"/>
              <a:t>India reports lakhs of cyber fraud cases annually, with phishing being a major contributor.</a:t>
            </a:r>
            <a:br>
              <a:rPr lang="en-US" sz="1600" dirty="0"/>
            </a:b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0BC53B1-1520-2D4C-8556-A3E81AE0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CA58CD6A-314B-39CA-99A0-E63A92CA5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50242"/>
            <a:ext cx="2321700" cy="6927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Technical Details</a:t>
            </a:r>
            <a:endParaRPr dirty="0"/>
          </a:p>
        </p:txBody>
      </p:sp>
      <p:sp>
        <p:nvSpPr>
          <p:cNvPr id="110" name="Google Shape;110;p18">
            <a:extLst>
              <a:ext uri="{FF2B5EF4-FFF2-40B4-BE49-F238E27FC236}">
                <a16:creationId xmlns:a16="http://schemas.microsoft.com/office/drawing/2014/main" id="{4111F44F-7029-852A-DC38-6A287E2B8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946149"/>
            <a:ext cx="8292536" cy="3638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Python, Scikit-learn for machine learning model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Natural Language Processing for email content analysis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Flask backend for API and processing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HTML, CSS, JavaScript for frontend interface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Phishing datasets (Kaggle, Enron)</a:t>
            </a:r>
          </a:p>
        </p:txBody>
      </p:sp>
      <p:sp>
        <p:nvSpPr>
          <p:cNvPr id="111" name="Google Shape;111;p18">
            <a:extLst>
              <a:ext uri="{FF2B5EF4-FFF2-40B4-BE49-F238E27FC236}">
                <a16:creationId xmlns:a16="http://schemas.microsoft.com/office/drawing/2014/main" id="{3E692161-79A4-5837-394A-744DEF35A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 flipV="1">
            <a:off x="4976158" y="5355770"/>
            <a:ext cx="3632400" cy="200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12" name="Google Shape;112;p18">
            <a:extLst>
              <a:ext uri="{FF2B5EF4-FFF2-40B4-BE49-F238E27FC236}">
                <a16:creationId xmlns:a16="http://schemas.microsoft.com/office/drawing/2014/main" id="{88AD9BB5-7830-E1A0-56CC-4CE4A9DC3D66}"/>
              </a:ext>
            </a:extLst>
          </p:cNvPr>
          <p:cNvSpPr txBox="1"/>
          <p:nvPr/>
        </p:nvSpPr>
        <p:spPr>
          <a:xfrm>
            <a:off x="666750" y="1315270"/>
            <a:ext cx="42039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4876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9124-A0D5-0529-B13B-BF345C8C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&amp;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B267-0D54-6409-6824-AEA65B089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150" y="1092200"/>
            <a:ext cx="7571700" cy="3743100"/>
          </a:xfrm>
        </p:spPr>
        <p:txBody>
          <a:bodyPr/>
          <a:lstStyle/>
          <a:p>
            <a:pPr marL="76200" indent="0">
              <a:buNone/>
            </a:pPr>
            <a:r>
              <a:rPr lang="en-US" sz="1600" dirty="0"/>
              <a:t>Feature Extraction:</a:t>
            </a:r>
          </a:p>
          <a:p>
            <a:pPr marL="76200" indent="0">
              <a:buNone/>
            </a:pPr>
            <a:r>
              <a:rPr lang="en-US" sz="1600" dirty="0"/>
              <a:t>- URL length analysis (long suspicious URLs)</a:t>
            </a:r>
          </a:p>
          <a:p>
            <a:pPr marL="76200" indent="0">
              <a:buNone/>
            </a:pPr>
            <a:r>
              <a:rPr lang="en-US" sz="1600" dirty="0"/>
              <a:t>- Suspicious keyword detection (urgent, verify, OTP – creates urgency)</a:t>
            </a:r>
          </a:p>
          <a:p>
            <a:pPr marL="76200" indent="0">
              <a:buNone/>
            </a:pPr>
            <a:r>
              <a:rPr lang="en-US" sz="1600" dirty="0"/>
              <a:t>- Domain similarity checks (detects fake bank/UPI domains)</a:t>
            </a:r>
          </a:p>
          <a:p>
            <a:pPr marL="76200" indent="0">
              <a:buNone/>
            </a:pPr>
            <a:endParaRPr lang="en-US" sz="1600" dirty="0"/>
          </a:p>
          <a:p>
            <a:pPr marL="76200" indent="0">
              <a:buNone/>
            </a:pPr>
            <a:r>
              <a:rPr lang="en-US" sz="1600" dirty="0"/>
              <a:t>Machine Learning Model:</a:t>
            </a:r>
          </a:p>
          <a:p>
            <a:pPr marL="76200" indent="0">
              <a:buNone/>
            </a:pPr>
            <a:r>
              <a:rPr lang="en-US" sz="1600" dirty="0"/>
              <a:t>- Logistic Regression / Naive Bayes</a:t>
            </a:r>
          </a:p>
          <a:p>
            <a:pPr marL="76200" indent="0">
              <a:buNone/>
            </a:pPr>
            <a:endParaRPr lang="en-US" sz="1600" dirty="0"/>
          </a:p>
          <a:p>
            <a:pPr marL="76200" indent="0">
              <a:buNone/>
            </a:pPr>
            <a:r>
              <a:rPr lang="en-US" sz="1600" dirty="0"/>
              <a:t>The model is trained on phishing datasets to classify emails and assign a risk score.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89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053B-09E5-A99E-D93E-8565B414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150" y="0"/>
            <a:ext cx="7571700" cy="56515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C37A9-6E02-4EE1-CA4F-F143F2E2B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6200" y="609600"/>
            <a:ext cx="5741650" cy="4225700"/>
          </a:xfrm>
        </p:spPr>
        <p:txBody>
          <a:bodyPr/>
          <a:lstStyle/>
          <a:p>
            <a:r>
              <a:rPr lang="en-US" sz="1600" dirty="0"/>
              <a:t>Email Input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Feature Extraction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Machine Learning Model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URL Check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Risk Score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Explanation</a:t>
            </a:r>
          </a:p>
          <a:p>
            <a:pPr lvl="1"/>
            <a:r>
              <a:rPr lang="en-US" sz="1600" dirty="0"/>
              <a:t>↓</a:t>
            </a:r>
          </a:p>
          <a:p>
            <a:r>
              <a:rPr lang="en-US" sz="1600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18618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535443" y="-1"/>
            <a:ext cx="2207757" cy="5928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System Design</a:t>
            </a:r>
            <a:endParaRPr dirty="0"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768700" y="688312"/>
            <a:ext cx="7839858" cy="4662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0">
              <a:buNone/>
            </a:pPr>
            <a:r>
              <a:rPr lang="en-US" sz="1600" dirty="0"/>
              <a:t>System Capabilities:</a:t>
            </a:r>
          </a:p>
          <a:p>
            <a:pPr lvl="0" indent="0">
              <a:buNone/>
            </a:pPr>
            <a:r>
              <a:rPr lang="en-US" sz="1600" dirty="0"/>
              <a:t>- Real-time or simulated email scanning</a:t>
            </a:r>
          </a:p>
          <a:p>
            <a:pPr lvl="0" indent="0">
              <a:buNone/>
            </a:pPr>
            <a:r>
              <a:rPr lang="en-US" sz="1600" dirty="0"/>
              <a:t>- URL and domain risk detection</a:t>
            </a:r>
          </a:p>
          <a:p>
            <a:pPr lvl="0" indent="0">
              <a:buNone/>
            </a:pPr>
            <a:r>
              <a:rPr lang="en-US" sz="1600" dirty="0"/>
              <a:t>- Risk scoring and alert system</a:t>
            </a:r>
          </a:p>
          <a:p>
            <a:pPr lvl="0" indent="0">
              <a:buNone/>
            </a:pPr>
            <a:r>
              <a:rPr lang="en-US" sz="1600" dirty="0"/>
              <a:t>- Explainable AI output for user clarity</a:t>
            </a:r>
          </a:p>
          <a:p>
            <a:pPr lvl="0" indent="0">
              <a:buNone/>
            </a:pPr>
            <a:r>
              <a:rPr lang="en-US" sz="1600" dirty="0"/>
              <a:t>- Multilingual support (English + extendable to regional languages)</a:t>
            </a:r>
          </a:p>
          <a:p>
            <a:pPr lvl="0" indent="0">
              <a:buNone/>
            </a:pPr>
            <a:endParaRPr lang="en-US" sz="1600" dirty="0"/>
          </a:p>
          <a:p>
            <a:pPr lvl="0" indent="0">
              <a:buNone/>
            </a:pPr>
            <a:r>
              <a:rPr lang="en-US" sz="1600" dirty="0"/>
              <a:t>Performance Metrics: Accuracy, Precision, Recall, False Positive Rate</a:t>
            </a:r>
          </a:p>
          <a:p>
            <a:pPr marL="742950" lvl="0" indent="-285750">
              <a:buFontTx/>
              <a:buChar char="-"/>
            </a:pPr>
            <a:endParaRPr lang="en-US" sz="1600" dirty="0"/>
          </a:p>
          <a:p>
            <a:pPr lvl="0" indent="0">
              <a:buNone/>
            </a:pPr>
            <a:r>
              <a:rPr lang="en-US" sz="1600" dirty="0"/>
              <a:t>Multiple modules work together to generate a reliable and accurate risk score.</a:t>
            </a:r>
            <a:endParaRPr sz="1600" dirty="0"/>
          </a:p>
        </p:txBody>
      </p:sp>
      <p:sp>
        <p:nvSpPr>
          <p:cNvPr id="112" name="Google Shape;112;p18"/>
          <p:cNvSpPr txBox="1"/>
          <p:nvPr/>
        </p:nvSpPr>
        <p:spPr>
          <a:xfrm>
            <a:off x="666750" y="1315270"/>
            <a:ext cx="42039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0590-680C-72B3-E9E5-7761DFEB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150" y="50800"/>
            <a:ext cx="7571700" cy="463550"/>
          </a:xfrm>
        </p:spPr>
        <p:txBody>
          <a:bodyPr/>
          <a:lstStyle/>
          <a:p>
            <a:r>
              <a:rPr lang="en-US" dirty="0"/>
              <a:t>Demo /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FB2F8-3A2F-C946-FF51-96153820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600" y="438150"/>
            <a:ext cx="7621250" cy="4397150"/>
          </a:xfrm>
        </p:spPr>
        <p:txBody>
          <a:bodyPr/>
          <a:lstStyle/>
          <a:p>
            <a:r>
              <a:rPr lang="en-US" sz="1600" dirty="0"/>
              <a:t>Sample Email:</a:t>
            </a:r>
          </a:p>
          <a:p>
            <a:pPr lvl="1"/>
            <a:r>
              <a:rPr lang="en-US" sz="1600" dirty="0"/>
              <a:t>"Your bank account will be blocked. Click here to verify."</a:t>
            </a:r>
          </a:p>
          <a:p>
            <a:endParaRPr lang="en-US" sz="1600" dirty="0"/>
          </a:p>
          <a:p>
            <a:r>
              <a:rPr lang="en-US" sz="1600" dirty="0"/>
              <a:t>Output:</a:t>
            </a:r>
          </a:p>
          <a:p>
            <a:pPr lvl="1"/>
            <a:r>
              <a:rPr lang="en-US" sz="1600" dirty="0"/>
              <a:t>Risk Score: 85% (High Risk)</a:t>
            </a:r>
          </a:p>
          <a:p>
            <a:endParaRPr lang="en-US" sz="1600" dirty="0"/>
          </a:p>
          <a:p>
            <a:r>
              <a:rPr lang="en-US" sz="1600" dirty="0"/>
              <a:t>Reasons:</a:t>
            </a:r>
          </a:p>
          <a:p>
            <a:pPr lvl="1"/>
            <a:r>
              <a:rPr lang="en-US" sz="1600" dirty="0"/>
              <a:t>- Suspicious URL detected</a:t>
            </a:r>
          </a:p>
          <a:p>
            <a:pPr lvl="1"/>
            <a:r>
              <a:rPr lang="en-US" sz="1600" dirty="0"/>
              <a:t>- Urgent language used</a:t>
            </a:r>
          </a:p>
          <a:p>
            <a:pPr lvl="1"/>
            <a:r>
              <a:rPr lang="en-US" sz="1600" dirty="0"/>
              <a:t>- Domain mismatch</a:t>
            </a:r>
          </a:p>
          <a:p>
            <a:endParaRPr lang="en-US" sz="1600" dirty="0"/>
          </a:p>
          <a:p>
            <a:r>
              <a:rPr lang="en-US" sz="1600" dirty="0"/>
              <a:t>Final Result: Phishing Detected</a:t>
            </a:r>
          </a:p>
          <a:p>
            <a:endParaRPr lang="en-US" sz="1600" dirty="0"/>
          </a:p>
          <a:p>
            <a:r>
              <a:rPr lang="en-US" sz="1600" dirty="0"/>
              <a:t>This demonstrates real-time phishing detection and explainable AI output.</a:t>
            </a:r>
          </a:p>
        </p:txBody>
      </p:sp>
    </p:spTree>
    <p:extLst>
      <p:ext uri="{BB962C8B-B14F-4D97-AF65-F5344CB8AC3E}">
        <p14:creationId xmlns:p14="http://schemas.microsoft.com/office/powerpoint/2010/main" val="2561248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449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Prospect</a:t>
            </a:r>
            <a:endParaRPr dirty="0"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647700" y="355599"/>
            <a:ext cx="8020651" cy="43379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High demand due to rising phishing attacks and digital payments in India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Useful for banks, enterprises, and email service providers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Can be offered as SaaS product or API integration</a:t>
            </a:r>
          </a:p>
          <a:p>
            <a:pPr lvl="0" indent="-330200">
              <a:spcBef>
                <a:spcPts val="0"/>
              </a:spcBef>
              <a:buSzPts val="1600"/>
            </a:pPr>
            <a:endParaRPr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Revenue through subscription plans and enterprise licensing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Unique advantage:  Explainable AI with India-focused phishing detection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Scalable solution for large-scale deployment</a:t>
            </a:r>
          </a:p>
          <a:p>
            <a:pPr indent="-330200">
              <a:spcBef>
                <a:spcPts val="0"/>
              </a:spcBef>
              <a:buSzPts val="1600"/>
            </a:pPr>
            <a:endParaRPr lang="en-US" sz="1600" dirty="0"/>
          </a:p>
          <a:p>
            <a:pPr indent="-330200">
              <a:spcBef>
                <a:spcPts val="0"/>
              </a:spcBef>
              <a:buSzPts val="1600"/>
            </a:pPr>
            <a:r>
              <a:rPr lang="en-US" sz="1600" dirty="0"/>
              <a:t>This helps organizations reduce financial fraud and improve user trust.</a:t>
            </a:r>
          </a:p>
          <a:p>
            <a:pPr indent="-330200">
              <a:spcBef>
                <a:spcPts val="0"/>
              </a:spcBef>
              <a:buSzPts val="1600"/>
            </a:pPr>
            <a:endParaRPr lang="en-US" sz="1600" dirty="0"/>
          </a:p>
          <a:p>
            <a:pPr indent="-330200">
              <a:spcBef>
                <a:spcPts val="0"/>
              </a:spcBef>
              <a:buSzPts val="1600"/>
            </a:pPr>
            <a:r>
              <a:rPr lang="en-US" sz="1600" dirty="0"/>
              <a:t>This solution is highly relevant for Indian enterprises facing increasing cyber threats.</a:t>
            </a:r>
          </a:p>
          <a:p>
            <a:pPr indent="-330200">
              <a:spcBef>
                <a:spcPts val="0"/>
              </a:spcBef>
              <a:buSzPts val="1600"/>
            </a:pPr>
            <a:endParaRPr lang="en-US" sz="1600" dirty="0"/>
          </a:p>
          <a:p>
            <a:pPr indent="-330200">
              <a:spcBef>
                <a:spcPts val="0"/>
              </a:spcBef>
              <a:buSzPts val="1600"/>
            </a:pPr>
            <a:r>
              <a:rPr lang="en-US" sz="1600" dirty="0"/>
              <a:t>Focused on detecting Indian-specific scams like UPI frauds and fake KYC requests.</a:t>
            </a:r>
          </a:p>
          <a:p>
            <a:pPr indent="-330200">
              <a:spcBef>
                <a:spcPts val="0"/>
              </a:spcBef>
              <a:buSzPts val="1600"/>
            </a:pPr>
            <a:endParaRPr lang="en-US" sz="1600" dirty="0"/>
          </a:p>
          <a:p>
            <a:pPr indent="-330200">
              <a:spcBef>
                <a:spcPts val="0"/>
              </a:spcBef>
              <a:buSzPts val="1600"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603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</a:t>
            </a:r>
            <a:endParaRPr dirty="0"/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876300" y="603250"/>
            <a:ext cx="7481550" cy="4232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 err="1"/>
              <a:t>PhishShield</a:t>
            </a:r>
            <a:r>
              <a:rPr lang="en-US" sz="1600" dirty="0"/>
              <a:t> AI provides a simple and effective solution to detect phishing emails and malicious URLs in real time</a:t>
            </a:r>
            <a:br>
              <a:rPr lang="en-US" sz="1600" dirty="0"/>
            </a:br>
            <a:endParaRPr lang="en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It combines machine learning with explainable AI to help users understand threats clearly</a:t>
            </a:r>
            <a:br>
              <a:rPr lang="en-US" sz="1600" dirty="0"/>
            </a:b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The system reduces financial fraud and improves cybersecurity awareness</a:t>
            </a:r>
            <a:br>
              <a:rPr lang="en-US" sz="1600" dirty="0"/>
            </a:b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Designed specifically for Indian users with support for regional use cases</a:t>
            </a:r>
            <a:br>
              <a:rPr lang="en-US" sz="1600" dirty="0"/>
            </a:b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Future scope includes integration with email platforms, mobile apps, and advanced AI models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/>
              <a:t>The system focuses on both detection and user awareness.</a:t>
            </a:r>
          </a:p>
          <a:p>
            <a:pPr lvl="0" indent="-330200">
              <a:spcBef>
                <a:spcPts val="0"/>
              </a:spcBef>
              <a:buSzPts val="1600"/>
            </a:pPr>
            <a:endParaRPr lang="en-US" sz="1600" dirty="0"/>
          </a:p>
          <a:p>
            <a:pPr lvl="0" indent="-330200">
              <a:spcBef>
                <a:spcPts val="0"/>
              </a:spcBef>
              <a:buSzPts val="1600"/>
            </a:pPr>
            <a:r>
              <a:rPr lang="en-US" sz="1600" dirty="0" err="1"/>
              <a:t>PhishShield</a:t>
            </a:r>
            <a:r>
              <a:rPr lang="en-US" sz="1600" dirty="0"/>
              <a:t> AI focuses not just on detection, but on user awareness and trust.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786150" y="0"/>
            <a:ext cx="7571700" cy="6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 </a:t>
            </a:r>
            <a:endParaRPr dirty="0"/>
          </a:p>
        </p:txBody>
      </p:sp>
      <p:sp>
        <p:nvSpPr>
          <p:cNvPr id="130" name="Google Shape;130;p21"/>
          <p:cNvSpPr txBox="1">
            <a:spLocks noGrp="1"/>
          </p:cNvSpPr>
          <p:nvPr>
            <p:ph type="body" idx="1"/>
          </p:nvPr>
        </p:nvSpPr>
        <p:spPr>
          <a:xfrm>
            <a:off x="786150" y="565150"/>
            <a:ext cx="7571700" cy="4270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buSzPts val="1600"/>
            </a:pPr>
            <a:r>
              <a:rPr lang="en-US" sz="1600" dirty="0"/>
              <a:t>Kaggle Phishing Email Dataset</a:t>
            </a:r>
          </a:p>
          <a:p>
            <a:pPr lvl="0" indent="-330200">
              <a:buSzPts val="1600"/>
            </a:pP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Enron Email Dataset</a:t>
            </a:r>
          </a:p>
          <a:p>
            <a:pPr lvl="0" indent="-330200">
              <a:buSzPts val="1600"/>
            </a:pP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Google Phishing Report</a:t>
            </a:r>
          </a:p>
          <a:p>
            <a:pPr lvl="0" indent="-330200">
              <a:buSzPts val="1600"/>
            </a:pP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Cybercrime India Portal (cybercrime.gov.in)</a:t>
            </a:r>
          </a:p>
          <a:p>
            <a:pPr lvl="0" indent="-330200">
              <a:buSzPts val="1600"/>
            </a:pP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Scikit-learn Documentation</a:t>
            </a:r>
          </a:p>
          <a:p>
            <a:pPr lvl="0" indent="-330200">
              <a:buSzPts val="1600"/>
            </a:pPr>
            <a:endParaRPr lang="en-US" sz="1600" dirty="0"/>
          </a:p>
          <a:p>
            <a:pPr lvl="0" indent="-330200">
              <a:buSzPts val="1600"/>
            </a:pPr>
            <a:r>
              <a:rPr lang="en-US" sz="1600" dirty="0"/>
              <a:t>Research papers on phishing detection (IEEE / Google Scholar)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863</Words>
  <Application>Microsoft Office PowerPoint</Application>
  <PresentationFormat>On-screen Show (16:9)</PresentationFormat>
  <Paragraphs>149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Roboto Slab</vt:lpstr>
      <vt:lpstr>Source Sans Pro</vt:lpstr>
      <vt:lpstr>Arial</vt:lpstr>
      <vt:lpstr>Cordelia template</vt:lpstr>
      <vt:lpstr>PowerPoint Presentation</vt:lpstr>
      <vt:lpstr>Agenda</vt:lpstr>
      <vt:lpstr>Abstract</vt:lpstr>
      <vt:lpstr>Introduction </vt:lpstr>
      <vt:lpstr>Problem statement</vt:lpstr>
      <vt:lpstr>Technical Details</vt:lpstr>
      <vt:lpstr>Feature Engineering &amp; Model</vt:lpstr>
      <vt:lpstr>System Architecture</vt:lpstr>
      <vt:lpstr> System Design</vt:lpstr>
      <vt:lpstr>Demo / Output</vt:lpstr>
      <vt:lpstr>Business Prospect</vt:lpstr>
      <vt:lpstr>Conclusion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MOHD IBADULLAH</dc:creator>
  <cp:lastModifiedBy>MOHD IBADULLAH</cp:lastModifiedBy>
  <cp:revision>11</cp:revision>
  <dcterms:modified xsi:type="dcterms:W3CDTF">2026-03-17T18:27:40Z</dcterms:modified>
</cp:coreProperties>
</file>